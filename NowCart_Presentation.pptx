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BB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938E"/>
                </a:solidFill>
              </a:rPr>
              <a:t>48-HOUR HACKATHON  ·  AMAZON NOW TRACK  ·  TEAM CODYSSEY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0292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157347"/>
                </a:solidFill>
              </a:rPr>
              <a:t>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0280" y="50292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1D3242"/>
                </a:solidFill>
              </a:rPr>
              <a:t>Cart  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32588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5F6B66"/>
                </a:solidFill>
              </a:rPr>
              <a:t>Reimagining Urgent Shopping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69164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1">
                <a:solidFill>
                  <a:srgbClr val="157347"/>
                </a:solidFill>
              </a:rPr>
              <a:t>"Quick commerce solved delivery.  We solve the deciding."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0040" y="2148840"/>
            <a:ext cx="11548872" cy="0"/>
          </a:xfrm>
          <a:prstGeom prst="line">
            <a:avLst/>
          </a:prstGeom>
          <a:ln w="12700">
            <a:solidFill>
              <a:srgbClr val="E3E7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20040" y="221284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38E"/>
                </a:solidFill>
              </a:rPr>
              <a:t>HackOn with Amazon  ·  Amazon Now Track  ·  15 / 06 /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21040" y="457200"/>
            <a:ext cx="35661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321040" y="457200"/>
            <a:ext cx="45720" cy="2926080"/>
          </a:xfrm>
          <a:prstGeom prst="rect">
            <a:avLst/>
          </a:prstGeom>
          <a:solidFill>
            <a:srgbClr val="3BB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30768" y="530352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A938E"/>
                </a:solidFill>
              </a:rPr>
              <a:t>TEAM CODYSSEY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0768" y="82296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3242"/>
                </a:solidFill>
              </a:rPr>
              <a:t>👨‍💻  Rohan Singh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0768" y="107899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F6B66"/>
                </a:solidFill>
              </a:rPr>
              <a:t>RGIPT, Bangalore  ·  Backend + Deployment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0768" y="148132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3242"/>
                </a:solidFill>
              </a:rPr>
              <a:t>👨‍💻  Anuj Kumar Yadav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173736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F6B66"/>
                </a:solidFill>
              </a:rPr>
              <a:t>NSUT, Delhi  ·  Frontend + Backend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8" y="213969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3242"/>
                </a:solidFill>
              </a:rPr>
              <a:t>👨‍🔬  Baibhav Kundu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0768" y="239572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F6B66"/>
                </a:solidFill>
              </a:rPr>
              <a:t>NSUT, Delhi  ·  Machine Learning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0" y="3493008"/>
            <a:ext cx="35661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30768" y="35661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57347"/>
                </a:solidFill>
              </a:rPr>
              <a:t>Need  →  Ready Cart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0768" y="3895344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F6B66"/>
                </a:solidFill>
              </a:rPr>
              <a:t>5 front doors  ·  1 reasoning engine  ·  0 dead ends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635508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A938E"/>
                </a:solidFill>
              </a:rPr>
              <a:t>Speaker note: "We're Team Codyssey — quick commerce solved delivery, but nobody solved the 5 minutes before that. We do."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BB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38E"/>
                </a:solidFill>
              </a:rPr>
              <a:t>Slide 2  ·  Solution Overview  ·  0:20 – 1:00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D3242"/>
                </a:solidFill>
              </a:rPr>
              <a:t>NowCart: The Requirement-First Commerce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F6B66"/>
                </a:solidFill>
              </a:rPr>
              <a:t>The world's first shopping engine that starts with your need — not a search box.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0040" y="987552"/>
            <a:ext cx="11548872" cy="0"/>
          </a:xfrm>
          <a:prstGeom prst="line">
            <a:avLst/>
          </a:prstGeom>
          <a:ln w="12700">
            <a:solidFill>
              <a:srgbClr val="E3E7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20040" y="1078992"/>
            <a:ext cx="5303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078992"/>
            <a:ext cx="45720" cy="7772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11556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A938E"/>
                </a:solidFill>
              </a:rPr>
              <a:t>EVERY PLATFORM 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129844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F6B66"/>
                </a:solidFill>
              </a:rPr>
              <a:t>Product → Search → Browse → Add → Repeat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155448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38E"/>
                </a:solidFill>
              </a:rPr>
              <a:t>5–7 minutes. Every. Single. Order.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993392"/>
            <a:ext cx="5303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1993392"/>
            <a:ext cx="45720" cy="960120"/>
          </a:xfrm>
          <a:prstGeom prst="rect">
            <a:avLst/>
          </a:prstGeom>
          <a:solidFill>
            <a:srgbClr val="3BB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" y="202996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57347"/>
                </a:solidFill>
              </a:rPr>
              <a:t>NOWCART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221284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D3242"/>
                </a:solidFill>
              </a:rPr>
              <a:t>Requirement  →  Ready Cart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" y="256032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F6B66"/>
                </a:solidFill>
              </a:rPr>
              <a:t>"Penne pasta for 2" → full ingredient cart in seconds.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97880" y="1078992"/>
            <a:ext cx="5943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897880" y="1078992"/>
            <a:ext cx="45720" cy="868680"/>
          </a:xfrm>
          <a:prstGeom prst="rect">
            <a:avLst/>
          </a:prstGeom>
          <a:solidFill>
            <a:srgbClr val="3BB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16752" y="1152144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3242"/>
                </a:solidFill>
              </a:rPr>
              <a:t>🎯 What is NowCart?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16752" y="1408176"/>
            <a:ext cx="5669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F6B66"/>
                </a:solidFill>
              </a:rPr>
              <a:t>A universal reasoning layer on top of any quick commerce catalog. Turns a high-level need into a checkout-ready cart automatically.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97880" y="2039112"/>
            <a:ext cx="5943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897880" y="2039112"/>
            <a:ext cx="45720" cy="8686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16752" y="2112264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3242"/>
                </a:solidFill>
              </a:rPr>
              <a:t>🔄 The Core Reversal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16752" y="2368296"/>
            <a:ext cx="5669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F6B66"/>
                </a:solidFill>
              </a:rPr>
              <a:t>We don't solve delivery times. We solve decision fatigue. Intent is the input. Cart is the output.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97880" y="2999232"/>
            <a:ext cx="5943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97880" y="2999232"/>
            <a:ext cx="45720" cy="868680"/>
          </a:xfrm>
          <a:prstGeom prst="rect">
            <a:avLst/>
          </a:prstGeom>
          <a:solidFill>
            <a:srgbClr val="E23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16752" y="3072384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3242"/>
                </a:solidFill>
              </a:rPr>
              <a:t>✅ Informed Choice, Not Forced Choice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16752" y="3328416"/>
            <a:ext cx="5669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F6B66"/>
                </a:solidFill>
              </a:rPr>
              <a:t>Transparent ranking. NowCart Verified badge = most ordered + highest rated. Economical Alt with exact saving shown. No brand bias.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635508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A938E"/>
                </a:solidFill>
              </a:rPr>
              <a:t>Speaker note: "NowCart is a universal reasoning layer — express a need, get a checkout-ready cart. We reverse the entire flow from product-first to requirement-first."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BB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38E"/>
                </a:solidFill>
              </a:rPr>
              <a:t>Slide 3  ·  The Bottleneck  ·  1:00 – 1:50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D3242"/>
                </a:solidFill>
              </a:rPr>
              <a:t>The Last Unsolved Problem in Quick Commerce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0040" y="749808"/>
            <a:ext cx="11548872" cy="0"/>
          </a:xfrm>
          <a:prstGeom prst="line">
            <a:avLst/>
          </a:prstGeom>
          <a:ln w="12700">
            <a:solidFill>
              <a:srgbClr val="E3E7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822960"/>
            <a:ext cx="115214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822960"/>
            <a:ext cx="45720" cy="1024128"/>
          </a:xfrm>
          <a:prstGeom prst="rect">
            <a:avLst/>
          </a:prstGeom>
          <a:solidFill>
            <a:srgbClr val="E23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59536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3D6D"/>
                </a:solidFill>
              </a:rPr>
              <a:t>😤  A Real User's Thursday Evening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1556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3242"/>
                </a:solidFill>
              </a:rPr>
              <a:t>Priya wants to cook Paneer Butter Masala. She opens Blinkit, searches "paneer" — 12 results, 4 pack sizes, 3 brands. Picks one. Searches "tomato puree" — out of stock. Searches again. Then butter, cream, spices — one by one. 7 minutes later she's still building the cart. Delivery: 10 min. Deciding: just as long.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993392"/>
            <a:ext cx="3749039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204825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57347"/>
                </a:solidFill>
              </a:rPr>
              <a:t>5–7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239572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F6B66"/>
                </a:solidFill>
              </a:rPr>
              <a:t>wasted per order across 300M+ Indian shoppers
(RedSeer, 2025)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9392" y="1993392"/>
            <a:ext cx="3749039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204825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23D6D"/>
                </a:solidFill>
              </a:rPr>
              <a:t>~70%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39572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F6B66"/>
                </a:solidFill>
              </a:rPr>
              <a:t>of online carts abandoned before checkout — 7 of 10
(Dynamic Yield, 2025)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38744" y="1993392"/>
            <a:ext cx="3749039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8471" y="204825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D4ED8"/>
                </a:solidFill>
              </a:rPr>
              <a:t>$7B+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8471" y="239572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F6B66"/>
                </a:solidFill>
              </a:rPr>
              <a:t>quick-commerce market in India — delivery perfected,
cart-building unsolved  (Mordor Intel, 2025)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944368"/>
            <a:ext cx="640080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2944368"/>
            <a:ext cx="45720" cy="859536"/>
          </a:xfrm>
          <a:prstGeom prst="rect">
            <a:avLst/>
          </a:prstGeom>
          <a:solidFill>
            <a:srgbClr val="3BB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" y="301752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" y="3008376"/>
            <a:ext cx="329184" cy="329184"/>
          </a:xfrm>
          <a:prstGeom prst="rect">
            <a:avLst/>
          </a:prstGeom>
          <a:solidFill>
            <a:srgbClr val="3BB77E"/>
          </a:solidFill>
          <a:ln w="12700">
            <a:solidFill>
              <a:srgbClr val="3BB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2999232"/>
            <a:ext cx="566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3242"/>
                </a:solidFill>
              </a:rPr>
              <a:t>Cart-building is the hidden bottleneck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3255264"/>
            <a:ext cx="5669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F6B66"/>
                </a:solidFill>
              </a:rPr>
              <a:t>Every app forces item-by-item search, 4–6 variant comparisons per product, and manual OOS hunting. Delivery is 10 min. Building the cart takes the same.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877056"/>
            <a:ext cx="640080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877056"/>
            <a:ext cx="45720" cy="859536"/>
          </a:xfrm>
          <a:prstGeom prst="rect">
            <a:avLst/>
          </a:prstGeom>
          <a:solidFill>
            <a:srgbClr val="3BB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" y="395020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8" y="3941064"/>
            <a:ext cx="329184" cy="329184"/>
          </a:xfrm>
          <a:prstGeom prst="rect">
            <a:avLst/>
          </a:prstGeom>
          <a:solidFill>
            <a:srgbClr val="3BB77E"/>
          </a:solidFill>
          <a:ln w="12700">
            <a:solidFill>
              <a:srgbClr val="3BB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3931920"/>
            <a:ext cx="566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3242"/>
                </a:solidFill>
              </a:rPr>
              <a:t>OOS dead-ends drive permanent churn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4187952"/>
            <a:ext cx="5669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F6B66"/>
                </a:solidFill>
              </a:rPr>
              <a:t>User hits an OOS item mid-cart — app shows nothing. They switch to a rival app. Every dead-end is a permanent trust loss, not a temporary inconvenience.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809744"/>
            <a:ext cx="640080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" y="4809744"/>
            <a:ext cx="45720" cy="859536"/>
          </a:xfrm>
          <a:prstGeom prst="rect">
            <a:avLst/>
          </a:prstGeom>
          <a:solidFill>
            <a:srgbClr val="3BB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488289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9768" y="4873752"/>
            <a:ext cx="329184" cy="329184"/>
          </a:xfrm>
          <a:prstGeom prst="rect">
            <a:avLst/>
          </a:prstGeom>
          <a:solidFill>
            <a:srgbClr val="3BB77E"/>
          </a:solidFill>
          <a:ln w="12700">
            <a:solidFill>
              <a:srgbClr val="3BB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4864607"/>
            <a:ext cx="5669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3242"/>
                </a:solidFill>
              </a:rPr>
              <a:t>Paradox of choice — no decision layer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5120640"/>
            <a:ext cx="5669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F6B66"/>
                </a:solidFill>
              </a:rPr>
              <a:t>6 variants of tomato puree: different brands, weights, prices. No platform tells you which fits your recipe. Users freeze and abandon.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03720" y="2944368"/>
            <a:ext cx="4937760" cy="2798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903720" y="2944368"/>
            <a:ext cx="45720" cy="2798064"/>
          </a:xfrm>
          <a:prstGeom prst="rect">
            <a:avLst/>
          </a:prstGeom>
          <a:solidFill>
            <a:srgbClr val="3BB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40880" y="2999232"/>
            <a:ext cx="4663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57347"/>
                </a:solidFill>
              </a:rPr>
              <a:t>THE GAP NOBODY FILLS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320040" y="3255264"/>
            <a:ext cx="11548872" cy="0"/>
          </a:xfrm>
          <a:prstGeom prst="line">
            <a:avLst/>
          </a:prstGeom>
          <a:ln w="12700">
            <a:solidFill>
              <a:srgbClr val="E3E7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995160" y="333756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D3242"/>
                </a:solidFill>
              </a:rPr>
              <a:t>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24927" y="3337560"/>
            <a:ext cx="4251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57347"/>
                </a:solidFill>
              </a:rPr>
              <a:t>10-min delivery  ✅  Solved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24927" y="3611879"/>
            <a:ext cx="4251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F6B66"/>
                </a:solidFill>
              </a:rPr>
              <a:t>Blinkit, Zepto, Amazon Fresh, Instamart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95160" y="4142232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D3242"/>
                </a:solidFill>
              </a:rPr>
              <a:t>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24927" y="4142232"/>
            <a:ext cx="4251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3D6D"/>
                </a:solidFill>
              </a:rPr>
              <a:t>10-min cart-building  ❌  Unsolved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24927" y="4416552"/>
            <a:ext cx="4251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F6B66"/>
                </a:solidFill>
              </a:rPr>
              <a:t>No platform has built this. Until NowCart.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95160" y="4946904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D3242"/>
                </a:solidFill>
              </a:rPr>
              <a:t>💬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24927" y="4946904"/>
            <a:ext cx="4251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F6B66"/>
                </a:solidFill>
              </a:rPr>
              <a:t>"I know what I want to cook. I just don't want to
spend 7 minutes searching for every ingredient."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24927" y="5221224"/>
            <a:ext cx="4251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F6B66"/>
                </a:solidFill>
              </a:rPr>
              <a:t>— every household shopper, every time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0040" y="635508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A938E"/>
                </a:solidFill>
              </a:rPr>
              <a:t>Speaker note: "Imagine Priya — she knows what to cook but spends 7 minutes building the cart. Delivery: 10 min. Deciding: just as long. 300 million users, every day. NowCart closes that gap."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BB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38E"/>
                </a:solidFill>
              </a:rPr>
              <a:t>Slide 4  ·  Customer Fit &amp; Novelty  ·  1:50 – 3:00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D3242"/>
                </a:solidFill>
              </a:rPr>
              <a:t>Built for Real People. Designed Around Intent.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0040" y="749808"/>
            <a:ext cx="11548872" cy="0"/>
          </a:xfrm>
          <a:prstGeom prst="line">
            <a:avLst/>
          </a:prstGeom>
          <a:ln w="12700">
            <a:solidFill>
              <a:srgbClr val="E3E7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822960"/>
            <a:ext cx="1371600" cy="292608"/>
          </a:xfrm>
          <a:prstGeom prst="rect">
            <a:avLst/>
          </a:prstGeom>
          <a:solidFill>
            <a:srgbClr val="1D3242"/>
          </a:solidFill>
          <a:ln w="12700">
            <a:solidFill>
              <a:srgbClr val="1D3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4904" y="841248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User Group</a:t>
            </a:r>
          </a:p>
        </p:txBody>
      </p:sp>
      <p:sp>
        <p:nvSpPr>
          <p:cNvPr id="8" name="Rectangle 7"/>
          <p:cNvSpPr/>
          <p:nvPr/>
        </p:nvSpPr>
        <p:spPr>
          <a:xfrm>
            <a:off x="1691640" y="822960"/>
            <a:ext cx="2286000" cy="292608"/>
          </a:xfrm>
          <a:prstGeom prst="rect">
            <a:avLst/>
          </a:prstGeom>
          <a:solidFill>
            <a:srgbClr val="1D3242"/>
          </a:solidFill>
          <a:ln w="12700">
            <a:solidFill>
              <a:srgbClr val="1D3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46504" y="841248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Real Pain Point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77639" y="822960"/>
            <a:ext cx="2560320" cy="292608"/>
          </a:xfrm>
          <a:prstGeom prst="rect">
            <a:avLst/>
          </a:prstGeom>
          <a:solidFill>
            <a:srgbClr val="1D3242"/>
          </a:solidFill>
          <a:ln w="12700">
            <a:solidFill>
              <a:srgbClr val="1D3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32503" y="841248"/>
            <a:ext cx="24688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What Happens Today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37959" y="822960"/>
            <a:ext cx="2560320" cy="292608"/>
          </a:xfrm>
          <a:prstGeom prst="rect">
            <a:avLst/>
          </a:prstGeom>
          <a:solidFill>
            <a:srgbClr val="1D3242"/>
          </a:solidFill>
          <a:ln w="12700">
            <a:solidFill>
              <a:srgbClr val="1D3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92823" y="841248"/>
            <a:ext cx="24688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NowCart's Answer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143000"/>
            <a:ext cx="13716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3192" y="1197864"/>
            <a:ext cx="124358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BB77E"/>
                </a:solidFill>
              </a:rPr>
              <a:t>🧑‍🍳 Kitchen Novices
(saw a dish online)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91640" y="1143000"/>
            <a:ext cx="22860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64792" y="1197864"/>
            <a:ext cx="215798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D3242"/>
                </a:solidFill>
              </a:rPr>
              <a:t>Wants to cook a dish from Instagram. No idea what to buy, in what qty, or which brand.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77639" y="1143000"/>
            <a:ext cx="25603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50791" y="1197864"/>
            <a:ext cx="2432303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3D6D"/>
                </a:solidFill>
              </a:rPr>
              <a:t>Googles recipe, manually searches each ingredient, gives up halfway.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37959" y="1143000"/>
            <a:ext cx="25603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11112" y="1197864"/>
            <a:ext cx="2432303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D3242"/>
                </a:solidFill>
              </a:rPr>
              <a:t>Show + Share: Snap dish or paste YouTube link → full cart in seconds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286000"/>
            <a:ext cx="1371600" cy="1078992"/>
          </a:xfrm>
          <a:prstGeom prst="rect">
            <a:avLst/>
          </a:prstGeom>
          <a:solidFill>
            <a:srgbClr val="F4F6FA"/>
          </a:solidFill>
          <a:ln w="12700">
            <a:solidFill>
              <a:srgbClr val="E3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3192" y="2340864"/>
            <a:ext cx="124358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A623"/>
                </a:solidFill>
              </a:rPr>
              <a:t>👴 Elderly / Voice-First
(non-tech users)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91640" y="2286000"/>
            <a:ext cx="2286000" cy="1078992"/>
          </a:xfrm>
          <a:prstGeom prst="rect">
            <a:avLst/>
          </a:prstGeom>
          <a:solidFill>
            <a:srgbClr val="F4F6FA"/>
          </a:solidFill>
          <a:ln w="12700">
            <a:solidFill>
              <a:srgbClr val="E3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64792" y="2340864"/>
            <a:ext cx="215798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D3242"/>
                </a:solidFill>
              </a:rPr>
              <a:t>Wants groceries but can't navigate text-heavy apps — small buttons, typing are real barriers.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77639" y="2286000"/>
            <a:ext cx="2560320" cy="1078992"/>
          </a:xfrm>
          <a:prstGeom prst="rect">
            <a:avLst/>
          </a:prstGeom>
          <a:solidFill>
            <a:srgbClr val="F4F6FA"/>
          </a:solidFill>
          <a:ln w="12700">
            <a:solidFill>
              <a:srgbClr val="E3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50791" y="2340864"/>
            <a:ext cx="2432303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3D6D"/>
                </a:solidFill>
              </a:rPr>
              <a:t>Asks family member to order. Dependent, slow, not independent.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37959" y="2286000"/>
            <a:ext cx="2560320" cy="1078992"/>
          </a:xfrm>
          <a:prstGeom prst="rect">
            <a:avLst/>
          </a:prstGeom>
          <a:solidFill>
            <a:srgbClr val="F4F6FA"/>
          </a:solidFill>
          <a:ln w="12700">
            <a:solidFill>
              <a:srgbClr val="E3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11112" y="2340864"/>
            <a:ext cx="2432303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D3242"/>
                </a:solidFill>
              </a:rPr>
              <a:t>Speak: Say 'dal chawal for 2' → cart appears. Zero typing, zero dependency.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429000"/>
            <a:ext cx="13716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3192" y="3483864"/>
            <a:ext cx="124358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D4ED8"/>
                </a:solidFill>
              </a:rPr>
              <a:t>🏠 Daily Household Shopper
(weekly planner)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91640" y="3429000"/>
            <a:ext cx="22860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764792" y="3483864"/>
            <a:ext cx="215798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D3242"/>
                </a:solidFill>
              </a:rPr>
              <a:t>Knows what to cook but wastes 5–7 min, hits OOS dead-ends, compares 6 variants per item.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77639" y="3429000"/>
            <a:ext cx="25603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50791" y="3483864"/>
            <a:ext cx="2432303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23D6D"/>
                </a:solidFill>
              </a:rPr>
              <a:t>Cart abandoned 70% of the time — session ends in frustration, not checkout.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37959" y="3429000"/>
            <a:ext cx="25603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11112" y="3483864"/>
            <a:ext cx="2432303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D3242"/>
                </a:solidFill>
              </a:rPr>
              <a:t>Constrain + Subscribe: Budget cart or auto-predicted restock, ready before they ask.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4526280"/>
            <a:ext cx="11521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20040" y="4526280"/>
            <a:ext cx="45720" cy="475488"/>
          </a:xfrm>
          <a:prstGeom prst="rect">
            <a:avLst/>
          </a:prstGeom>
          <a:solidFill>
            <a:srgbClr val="3BB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4581144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D3242"/>
                </a:solidFill>
              </a:rPr>
              <a:t>What they all need: Not a better search box — an interface that takes a raw need and hands back a ready cart. One missing item never breaks the flow. It's swapped with the next best match, transparently.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5102352"/>
            <a:ext cx="374903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20040" y="5102352"/>
            <a:ext cx="45720" cy="749808"/>
          </a:xfrm>
          <a:prstGeom prst="rect">
            <a:avLst/>
          </a:prstGeom>
          <a:solidFill>
            <a:srgbClr val="3BB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8056" y="5138928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3242"/>
                </a:solidFill>
              </a:rPr>
              <a:t>① Unique Angle — Intent → Cart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" y="5394960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F6B66"/>
                </a:solidFill>
              </a:rPr>
              <a:t>Only platform that goes intent→cart, not product→you decide. 'Penne pasta for 2' builds the cart.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79392" y="5102352"/>
            <a:ext cx="374903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279392" y="5102352"/>
            <a:ext cx="45720" cy="7498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07407" y="5138928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3242"/>
                </a:solidFill>
              </a:rPr>
              <a:t>② Informed Choice, Not Forced Choice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07407" y="5394960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F6B66"/>
                </a:solidFill>
              </a:rPr>
              <a:t>NowCart Verified badge = most ordered + highest rated. Economical Alt always shown. No hidden AI bias.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38744" y="5102352"/>
            <a:ext cx="374903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238744" y="5102352"/>
            <a:ext cx="45720" cy="7498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66760" y="5138928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D3242"/>
                </a:solidFill>
              </a:rPr>
              <a:t>③ No Single Point of Failure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66760" y="5394960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F6B66"/>
                </a:solidFill>
              </a:rPr>
              <a:t>Photo, link, voice, budget, subscription all feed one reasoning framework. Step fails? Pipeline skips it.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0040" y="635508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A938E"/>
                </a:solidFill>
              </a:rPr>
              <a:t>Speaker note: "Three users, one problem. Kitchen novice gives up. Elderly user calls their kid. Household shopper abandons the cart. None need a better search box — they need intent-in, cart-out."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BB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38E"/>
                </a:solidFill>
              </a:rPr>
              <a:t>Slide 5  ·  Five Front Doors  ·  3:00 – 3:50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D3242"/>
                </a:solidFill>
              </a:rPr>
              <a:t>Five Ways In.  One Confident Cart Out.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0040" y="749808"/>
            <a:ext cx="11548872" cy="0"/>
          </a:xfrm>
          <a:prstGeom prst="line">
            <a:avLst/>
          </a:prstGeom>
          <a:ln w="12700">
            <a:solidFill>
              <a:srgbClr val="E3E7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868680"/>
            <a:ext cx="2157984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868680"/>
            <a:ext cx="2157984" cy="54864"/>
          </a:xfrm>
          <a:prstGeom prst="rect">
            <a:avLst/>
          </a:prstGeom>
          <a:solidFill>
            <a:srgbClr val="3BB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987552"/>
            <a:ext cx="1975103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D3242"/>
                </a:solidFill>
              </a:rPr>
              <a:t>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444752"/>
            <a:ext cx="197510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BB77E"/>
                </a:solidFill>
              </a:rPr>
              <a:t>SHOW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755648"/>
            <a:ext cx="1975103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F6B66"/>
                </a:solidFill>
              </a:rPr>
              <a:t>Snap a dish photo → Gemini Vision extracts ingredients → LangGraph builds the cart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87752" y="868680"/>
            <a:ext cx="2157984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87752" y="868680"/>
            <a:ext cx="2157984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79192" y="987552"/>
            <a:ext cx="1975103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D3242"/>
                </a:solidFill>
              </a:rPr>
              <a:t>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79192" y="1444752"/>
            <a:ext cx="197510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D4ED8"/>
                </a:solidFill>
              </a:rPr>
              <a:t>SHARE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9192" y="1755648"/>
            <a:ext cx="1975103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F6B66"/>
                </a:solidFill>
              </a:rPr>
              <a:t>Paste any recipe or YouTube URL → LLM parses ingredients → cart built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55464" y="868680"/>
            <a:ext cx="2157984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55464" y="868680"/>
            <a:ext cx="2157984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46903" y="987552"/>
            <a:ext cx="1975103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D3242"/>
                </a:solidFill>
              </a:rPr>
              <a:t>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46903" y="1444752"/>
            <a:ext cx="197510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A623"/>
                </a:solidFill>
              </a:rPr>
              <a:t>SPEAK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46903" y="1755648"/>
            <a:ext cx="1975103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F6B66"/>
                </a:solidFill>
              </a:rPr>
              <a:t>Say 'biryani for 4' → semantic intent match + weight resolution → confidence-scored cart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23175" y="868680"/>
            <a:ext cx="2157984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23175" y="868680"/>
            <a:ext cx="2157984" cy="54864"/>
          </a:xfrm>
          <a:prstGeom prst="rect">
            <a:avLst/>
          </a:prstGeom>
          <a:solidFill>
            <a:srgbClr val="E23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14615" y="987552"/>
            <a:ext cx="1975103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D3242"/>
                </a:solidFill>
              </a:rPr>
              <a:t>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14615" y="1444752"/>
            <a:ext cx="197510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23D6D"/>
                </a:solidFill>
              </a:rPr>
              <a:t>CONSTRAIN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4615" y="1755648"/>
            <a:ext cx="1975103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F6B66"/>
                </a:solidFill>
              </a:rPr>
              <a:t>Set ₹500 budget → full pipeline runs → greedy knapsack trims by confidence until total fits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90888" y="868680"/>
            <a:ext cx="2157984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390888" y="868680"/>
            <a:ext cx="2157984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82328" y="987552"/>
            <a:ext cx="1975103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D3242"/>
                </a:solidFill>
              </a:rPr>
              <a:t>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82328" y="1444752"/>
            <a:ext cx="197510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C3AED"/>
                </a:solidFill>
              </a:rPr>
              <a:t>SUBSCRIBE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82328" y="1755648"/>
            <a:ext cx="1975103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F6B66"/>
                </a:solidFill>
              </a:rPr>
              <a:t>Order history → inter-purchase interval analysis → restock cart pre-built before you ask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" y="3273552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38E"/>
                </a:solidFill>
              </a:rPr>
              <a:t>▼  all five feed the same engine  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423160" y="3611880"/>
            <a:ext cx="731520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423160" y="3611880"/>
            <a:ext cx="45720" cy="932688"/>
          </a:xfrm>
          <a:prstGeom prst="rect">
            <a:avLst/>
          </a:prstGeom>
          <a:solidFill>
            <a:srgbClr val="3BB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42032" y="3648456"/>
            <a:ext cx="7040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57347"/>
                </a:solidFill>
              </a:rPr>
              <a:t>Outcome Engine  (LangGraph Brain)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42032" y="3913632"/>
            <a:ext cx="7040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D3242"/>
                </a:solidFill>
              </a:rPr>
              <a:t>decompose  →  match  →  semantic re-rank  →  score  →  resolve OOS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77639" y="4626864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A938E"/>
                </a:solidFill>
              </a:rPr>
              <a:t>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23160" y="4846320"/>
            <a:ext cx="7315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423160" y="4846320"/>
            <a:ext cx="45720" cy="822960"/>
          </a:xfrm>
          <a:prstGeom prst="rect">
            <a:avLst/>
          </a:prstGeom>
          <a:solidFill>
            <a:srgbClr val="157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42032" y="4882896"/>
            <a:ext cx="7040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57347"/>
                </a:solidFill>
              </a:rPr>
              <a:t>One Confident Cart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42032" y="5138928"/>
            <a:ext cx="7040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D3242"/>
                </a:solidFill>
              </a:rPr>
              <a:t>✓ Recommended Pick    |    💰 Economical Alt    |    📊 Confidence %    |    💬 One-line reason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" y="635508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A938E"/>
                </a:solidFill>
              </a:rPr>
              <a:t>Speaker note: "Five ways to express a need — photo, voice, link, budget, or predictive restock. All five feed the same engine. Output is always one confident cart."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BB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38E"/>
                </a:solidFill>
              </a:rPr>
              <a:t>Slide 6  ·  User Workflow  ·  3:50 – 4:20  ·  Then →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D3242"/>
                </a:solidFill>
              </a:rPr>
              <a:t>Express  ·  Engine  ·  Confirm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F6B66"/>
                </a:solidFill>
              </a:rPr>
              <a:t>Three steps from need to checkout. No search. No dead ends. No wasted minutes.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0040" y="987552"/>
            <a:ext cx="11548872" cy="0"/>
          </a:xfrm>
          <a:prstGeom prst="line">
            <a:avLst/>
          </a:prstGeom>
          <a:ln w="12700">
            <a:solidFill>
              <a:srgbClr val="E3E7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20040" y="1078992"/>
            <a:ext cx="34747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078992"/>
            <a:ext cx="45720" cy="4160520"/>
          </a:xfrm>
          <a:prstGeom prst="rect">
            <a:avLst/>
          </a:prstGeom>
          <a:solidFill>
            <a:srgbClr val="3BB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188720"/>
            <a:ext cx="32918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1D3242"/>
                </a:solidFill>
              </a:rPr>
              <a:t>✏️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792224"/>
            <a:ext cx="3291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BB77E"/>
                </a:solidFill>
              </a:rPr>
              <a:t>1. EXPRESS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194560"/>
            <a:ext cx="3291839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F6B66"/>
                </a:solidFill>
              </a:rPr>
              <a:t>📸  Snap a dish
🔗  Paste a recipe link
🎤  Speak a meal
💰  Set a budget
🔁  Let it predict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79" y="285292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A938E"/>
                </a:solidFill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15383" y="1078992"/>
            <a:ext cx="34747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15383" y="1078992"/>
            <a:ext cx="45720" cy="41605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06823" y="1188720"/>
            <a:ext cx="32918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1D3242"/>
                </a:solidFill>
              </a:rPr>
              <a:t>⚙️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06823" y="1792224"/>
            <a:ext cx="3291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A623"/>
                </a:solidFill>
              </a:rPr>
              <a:t>2.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06823" y="2194560"/>
            <a:ext cx="3291839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F6B66"/>
                </a:solidFill>
              </a:rPr>
              <a:t>Decomposes your intent
Matches 9,534 products
Bi + Cross + Fuzzy retrieval
Resolves out-of-stock
Scores confidence per item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35824" y="285292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A938E"/>
                </a:solidFill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10727" y="1078992"/>
            <a:ext cx="34747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10727" y="1078992"/>
            <a:ext cx="45720" cy="4160520"/>
          </a:xfrm>
          <a:prstGeom prst="rect">
            <a:avLst/>
          </a:prstGeom>
          <a:solidFill>
            <a:srgbClr val="157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02167" y="1188720"/>
            <a:ext cx="32918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1D3242"/>
                </a:solidFill>
              </a:rPr>
              <a:t>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2167" y="1792224"/>
            <a:ext cx="3291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57347"/>
                </a:solidFill>
              </a:rPr>
              <a:t>3. CONFIRM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02167" y="2194560"/>
            <a:ext cx="3291839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F6B66"/>
                </a:solidFill>
              </a:rPr>
              <a:t>One cart with confidence scores
Transparent substitutions shown
Refine conversationally:
'make it vegan' / 'remove onion'
Checkout in 2 taps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5349240"/>
            <a:ext cx="115214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5349240"/>
            <a:ext cx="45720" cy="457200"/>
          </a:xfrm>
          <a:prstGeom prst="rect">
            <a:avLst/>
          </a:prstGeom>
          <a:solidFill>
            <a:srgbClr val="3BB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404104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D3242"/>
                </a:solidFill>
              </a:rPr>
              <a:t>Conversational refinement after cart is built:   "make it cheaper"   ·   "I'm vegetarian"   ·   "remove onion"   ·   "reduce to ₹300"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35508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A938E"/>
                </a:solidFill>
              </a:rPr>
              <a:t>Speaker note: "Express your need. Engine decomposes, matches, resolves OOS, scores picks. One confident cart. Refine conversationally. Checkout in 2 taps. Let's see this live."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BB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38E"/>
                </a:solidFill>
              </a:rPr>
              <a:t>Slide 7  ·  Live Prototype  ·  4:20 – 7:50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D3242"/>
                </a:solidFill>
              </a:rPr>
              <a:t>Live Prototype Demonstration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0040" y="749808"/>
            <a:ext cx="11548872" cy="0"/>
          </a:xfrm>
          <a:prstGeom prst="line">
            <a:avLst/>
          </a:prstGeom>
          <a:ln w="12700">
            <a:solidFill>
              <a:srgbClr val="E3E7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371600" y="868680"/>
            <a:ext cx="941832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868680"/>
            <a:ext cx="9418320" cy="347472"/>
          </a:xfrm>
          <a:prstGeom prst="rect">
            <a:avLst/>
          </a:prstGeom>
          <a:solidFill>
            <a:srgbClr val="F4F6FA"/>
          </a:solidFill>
          <a:ln w="12700">
            <a:solidFill>
              <a:srgbClr val="E3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36192" y="960120"/>
            <a:ext cx="164592" cy="164592"/>
          </a:xfrm>
          <a:prstGeom prst="rect">
            <a:avLst/>
          </a:prstGeom>
          <a:solidFill>
            <a:srgbClr val="E23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792224" y="960120"/>
            <a:ext cx="164592" cy="16459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48256" y="960120"/>
            <a:ext cx="164592" cy="164592"/>
          </a:xfrm>
          <a:prstGeom prst="rect">
            <a:avLst/>
          </a:prstGeom>
          <a:solidFill>
            <a:srgbClr val="3BB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93268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38E"/>
                </a:solidFill>
              </a:rPr>
              <a:t>nowcart.live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169164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0" i="0">
                <a:solidFill>
                  <a:srgbClr val="1D3242"/>
                </a:solidFill>
              </a:rPr>
              <a:t>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560320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5F6B66"/>
                </a:solidFill>
              </a:rPr>
              <a:t>EMBED DEMO VIDEO HERE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944368"/>
            <a:ext cx="7589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938E"/>
                </a:solidFill>
              </a:rPr>
              <a:t>3:30 – 3:40 min walkthrough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72768" y="3401568"/>
            <a:ext cx="202996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45920" y="3438144"/>
            <a:ext cx="19019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D3242"/>
                </a:solidFill>
              </a:rPr>
              <a:t>📸 Show: Dish Photo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67328" y="3401568"/>
            <a:ext cx="202996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0" y="3438144"/>
            <a:ext cx="19019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D3242"/>
                </a:solidFill>
              </a:rPr>
              <a:t>🔗 Share: YouTube Link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61888" y="3401568"/>
            <a:ext cx="202996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0" y="3438144"/>
            <a:ext cx="19019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D3242"/>
                </a:solidFill>
              </a:rPr>
              <a:t>🎤 Speak: Biryani for 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56448" y="3401568"/>
            <a:ext cx="202996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3438144"/>
            <a:ext cx="19019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D3242"/>
                </a:solidFill>
              </a:rPr>
              <a:t>💰 Constrain: ₹500 Budget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351008" y="3401568"/>
            <a:ext cx="202996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24160" y="3438144"/>
            <a:ext cx="19019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D3242"/>
                </a:solidFill>
              </a:rPr>
              <a:t>🔁 Subscribe: Restock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0" y="4023360"/>
            <a:ext cx="7589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23160" y="4133087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D3242"/>
                </a:solidFill>
              </a:rPr>
              <a:t>📊  Live on AWS  ·  Test login:  rahul@gmail.com  (any password)  ·  Full pantry + prediction experience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35508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A938E"/>
                </a:solidFill>
              </a:rPr>
              <a:t>Speaker note: Narrate during video — "Snap Paneer Butter Masala photo → ingredients extracted. Paste YouTube link → parsed real-time. Voice ₹500 budget → knapsack selects highest-confidence essentials. OOS items swapped, never dead-ends."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BB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38E"/>
                </a:solidFill>
              </a:rPr>
              <a:t>Slide 8  ·  Architecture + Stack + Algorithms  ·  8:00 – 9:00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D3242"/>
                </a:solidFill>
              </a:rPr>
              <a:t>How It Actually Works: End-to-End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0040" y="749808"/>
            <a:ext cx="11548872" cy="0"/>
          </a:xfrm>
          <a:prstGeom prst="line">
            <a:avLst/>
          </a:prstGeom>
          <a:ln w="12700">
            <a:solidFill>
              <a:srgbClr val="E3E7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868680"/>
            <a:ext cx="1737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868680"/>
            <a:ext cx="1737360" cy="54864"/>
          </a:xfrm>
          <a:prstGeom prst="rect">
            <a:avLst/>
          </a:prstGeom>
          <a:solidFill>
            <a:srgbClr val="3BB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" y="960120"/>
            <a:ext cx="160934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BB77E"/>
                </a:solidFill>
              </a:rPr>
              <a:t>①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" y="1225296"/>
            <a:ext cx="160934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6B66"/>
                </a:solidFill>
              </a:rPr>
              <a:t>5 front doors
Photo/Voice
Link/Budget
Predict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66543" y="1444752"/>
            <a:ext cx="201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A938E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58568" y="868680"/>
            <a:ext cx="1737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58568" y="868680"/>
            <a:ext cx="173736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31720" y="960120"/>
            <a:ext cx="160934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A623"/>
                </a:solidFill>
              </a:rPr>
              <a:t>② Security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1225296"/>
            <a:ext cx="160934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6B66"/>
                </a:solidFill>
              </a:rPr>
              <a:t>SSRF guard
Rate limiting
Input sanitize
Speech→Text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05072" y="1444752"/>
            <a:ext cx="201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A938E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97096" y="868680"/>
            <a:ext cx="1737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97096" y="868680"/>
            <a:ext cx="1737360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70248" y="960120"/>
            <a:ext cx="160934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D4ED8"/>
                </a:solidFill>
              </a:rPr>
              <a:t>③ Decision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0248" y="1225296"/>
            <a:ext cx="160934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6B66"/>
                </a:solidFill>
              </a:rPr>
              <a:t>Assembly needed?
YES → engine
NO → exact
product match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1444752"/>
            <a:ext cx="201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A938E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35624" y="868680"/>
            <a:ext cx="22860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35624" y="868680"/>
            <a:ext cx="22860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08776" y="960120"/>
            <a:ext cx="21579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3AED"/>
                </a:solidFill>
              </a:rPr>
              <a:t>④ Engine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08776" y="1225296"/>
            <a:ext cx="215798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6B66"/>
                </a:solidFill>
              </a:rPr>
              <a:t>LangGraph 10-node
Bi-encoder search
Cross-encoder rank
RapidFuzz typos
OOS auto-swap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0768" y="1444752"/>
            <a:ext cx="201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A938E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22792" y="868680"/>
            <a:ext cx="1737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622792" y="868680"/>
            <a:ext cx="1737360" cy="54864"/>
          </a:xfrm>
          <a:prstGeom prst="rect">
            <a:avLst/>
          </a:prstGeom>
          <a:solidFill>
            <a:srgbClr val="157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95944" y="960120"/>
            <a:ext cx="160934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57347"/>
                </a:solidFill>
              </a:rPr>
              <a:t>⑤ 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95944" y="1225296"/>
            <a:ext cx="160934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F6B66"/>
                </a:solidFill>
              </a:rPr>
              <a:t>Verified pick
Econ alt
Score +
Reason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2542032"/>
            <a:ext cx="1280160" cy="292608"/>
          </a:xfrm>
          <a:prstGeom prst="rect">
            <a:avLst/>
          </a:prstGeom>
          <a:solidFill>
            <a:srgbClr val="1D3242"/>
          </a:solidFill>
          <a:ln w="12700">
            <a:solidFill>
              <a:srgbClr val="1D3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4904" y="2578608"/>
            <a:ext cx="118871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Layer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00200" y="2542032"/>
            <a:ext cx="3108960" cy="292608"/>
          </a:xfrm>
          <a:prstGeom prst="rect">
            <a:avLst/>
          </a:prstGeom>
          <a:solidFill>
            <a:srgbClr val="1D3242"/>
          </a:solidFill>
          <a:ln w="12700">
            <a:solidFill>
              <a:srgbClr val="1D3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655064" y="2578608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Technology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09160" y="2542032"/>
            <a:ext cx="2560320" cy="292608"/>
          </a:xfrm>
          <a:prstGeom prst="rect">
            <a:avLst/>
          </a:prstGeom>
          <a:solidFill>
            <a:srgbClr val="1D3242"/>
          </a:solidFill>
          <a:ln w="12700">
            <a:solidFill>
              <a:srgbClr val="1D3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64024" y="2578608"/>
            <a:ext cx="24688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Key Algorithm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269480" y="2542032"/>
            <a:ext cx="4297680" cy="292608"/>
          </a:xfrm>
          <a:prstGeom prst="rect">
            <a:avLst/>
          </a:prstGeom>
          <a:solidFill>
            <a:srgbClr val="1D3242"/>
          </a:solidFill>
          <a:ln w="12700">
            <a:solidFill>
              <a:srgbClr val="1D3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24344" y="2578608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What It Enables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2852928"/>
            <a:ext cx="12801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4048" y="2907792"/>
            <a:ext cx="117043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D3242"/>
                </a:solidFill>
              </a:rPr>
              <a:t>Frontend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600200" y="2852928"/>
            <a:ext cx="31089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664208" y="2907792"/>
            <a:ext cx="29992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D3242"/>
                </a:solidFill>
              </a:rPr>
              <a:t>React 19 + Vite + TailwindCSS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09160" y="2852928"/>
            <a:ext cx="25603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73168" y="2907792"/>
            <a:ext cx="245059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D3242"/>
                </a:solidFill>
              </a:rPr>
              <a:t>—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69480" y="2852928"/>
            <a:ext cx="42976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33488" y="2907792"/>
            <a:ext cx="41879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D3242"/>
                </a:solidFill>
              </a:rPr>
              <a:t>Instant panels, works on mid-range phones with patchy network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3419856"/>
            <a:ext cx="1280160" cy="548640"/>
          </a:xfrm>
          <a:prstGeom prst="rect">
            <a:avLst/>
          </a:prstGeom>
          <a:solidFill>
            <a:srgbClr val="F4F6FA"/>
          </a:solidFill>
          <a:ln w="12700">
            <a:solidFill>
              <a:srgbClr val="E3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4048" y="3474720"/>
            <a:ext cx="117043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D3242"/>
                </a:solidFill>
              </a:rPr>
              <a:t>Backend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600200" y="3419856"/>
            <a:ext cx="3108960" cy="548640"/>
          </a:xfrm>
          <a:prstGeom prst="rect">
            <a:avLst/>
          </a:prstGeom>
          <a:solidFill>
            <a:srgbClr val="F4F6FA"/>
          </a:solidFill>
          <a:ln w="12700">
            <a:solidFill>
              <a:srgbClr val="E3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664208" y="3474720"/>
            <a:ext cx="29992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D3242"/>
                </a:solidFill>
              </a:rPr>
              <a:t>FastAPI + Pydantic 2 (fully async)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709160" y="3419856"/>
            <a:ext cx="2560320" cy="548640"/>
          </a:xfrm>
          <a:prstGeom prst="rect">
            <a:avLst/>
          </a:prstGeom>
          <a:solidFill>
            <a:srgbClr val="F4F6FA"/>
          </a:solidFill>
          <a:ln w="12700">
            <a:solidFill>
              <a:srgbClr val="E3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73168" y="3474720"/>
            <a:ext cx="245059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D3242"/>
                </a:solidFill>
              </a:rPr>
              <a:t>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269480" y="3419856"/>
            <a:ext cx="4297680" cy="548640"/>
          </a:xfrm>
          <a:prstGeom prst="rect">
            <a:avLst/>
          </a:prstGeom>
          <a:solidFill>
            <a:srgbClr val="F4F6FA"/>
          </a:solidFill>
          <a:ln w="12700">
            <a:solidFill>
              <a:srgbClr val="E3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33488" y="3474720"/>
            <a:ext cx="41879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D3242"/>
                </a:solidFill>
              </a:rPr>
              <a:t>Thousands of simultaneous carts, validated end-to-end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" y="3986784"/>
            <a:ext cx="12801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84048" y="4041648"/>
            <a:ext cx="117043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D3242"/>
                </a:solidFill>
              </a:rPr>
              <a:t>AI / ML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600200" y="3986784"/>
            <a:ext cx="31089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664208" y="4041648"/>
            <a:ext cx="29992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D3242"/>
                </a:solidFill>
              </a:rPr>
              <a:t>LangGraph + Groq / Gemini / Claude + TF-IDF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709160" y="3986784"/>
            <a:ext cx="25603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773168" y="4041648"/>
            <a:ext cx="245059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D3242"/>
                </a:solidFill>
              </a:rPr>
              <a:t>Bi→Cross→RapidFuzz retrieval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269480" y="3986784"/>
            <a:ext cx="42976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33488" y="4041648"/>
            <a:ext cx="41879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D3242"/>
                </a:solidFill>
              </a:rPr>
              <a:t>Semantic search + re-rank + catches 'malai', 'tomatoe', 'paneer'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20040" y="4553712"/>
            <a:ext cx="1280160" cy="548640"/>
          </a:xfrm>
          <a:prstGeom prst="rect">
            <a:avLst/>
          </a:prstGeom>
          <a:solidFill>
            <a:srgbClr val="F4F6FA"/>
          </a:solidFill>
          <a:ln w="12700">
            <a:solidFill>
              <a:srgbClr val="E3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84048" y="4608576"/>
            <a:ext cx="117043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D3242"/>
                </a:solidFill>
              </a:rPr>
              <a:t>Database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600200" y="4553712"/>
            <a:ext cx="3108960" cy="548640"/>
          </a:xfrm>
          <a:prstGeom prst="rect">
            <a:avLst/>
          </a:prstGeom>
          <a:solidFill>
            <a:srgbClr val="F4F6FA"/>
          </a:solidFill>
          <a:ln w="12700">
            <a:solidFill>
              <a:srgbClr val="E3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664208" y="4608576"/>
            <a:ext cx="29992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D3242"/>
                </a:solidFill>
              </a:rPr>
              <a:t>DynamoDB (pay-per-request)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709160" y="4553712"/>
            <a:ext cx="2560320" cy="548640"/>
          </a:xfrm>
          <a:prstGeom prst="rect">
            <a:avLst/>
          </a:prstGeom>
          <a:solidFill>
            <a:srgbClr val="F4F6FA"/>
          </a:solidFill>
          <a:ln w="12700">
            <a:solidFill>
              <a:srgbClr val="E3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73168" y="4608576"/>
            <a:ext cx="245059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D3242"/>
                </a:solidFill>
              </a:rPr>
              <a:t>Coeff. of variation restock scoring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269480" y="4553712"/>
            <a:ext cx="4297680" cy="548640"/>
          </a:xfrm>
          <a:prstGeom prst="rect">
            <a:avLst/>
          </a:prstGeom>
          <a:solidFill>
            <a:srgbClr val="F4F6FA"/>
          </a:solidFill>
          <a:ln w="12700">
            <a:solidFill>
              <a:srgbClr val="E3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333488" y="4608576"/>
            <a:ext cx="41879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D3242"/>
                </a:solidFill>
              </a:rPr>
              <a:t>Auto-scales; order history powers Subscribe. No cold start.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20040" y="5120640"/>
            <a:ext cx="12801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84048" y="5175503"/>
            <a:ext cx="117043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D3242"/>
                </a:solidFill>
              </a:rPr>
              <a:t>Infra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600200" y="5120640"/>
            <a:ext cx="31089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664208" y="5175503"/>
            <a:ext cx="29992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D3242"/>
                </a:solidFill>
              </a:rPr>
              <a:t>EC2 + Nginx + S3 + CloudFront + Redis + Lambda + SQS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709160" y="5120640"/>
            <a:ext cx="25603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773168" y="5175503"/>
            <a:ext cx="245059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D3242"/>
                </a:solidFill>
              </a:rPr>
              <a:t>LLM hash caching 1-hr TTL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269480" y="5120640"/>
            <a:ext cx="42976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333488" y="5175503"/>
            <a:ext cx="41879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D3242"/>
                </a:solidFill>
              </a:rPr>
              <a:t>100 queries = 1 model call + 99 cache hits. Saves ~800ms/repeat.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132320" y="5724144"/>
            <a:ext cx="44348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132320" y="5724144"/>
            <a:ext cx="45720" cy="502920"/>
          </a:xfrm>
          <a:prstGeom prst="rect">
            <a:avLst/>
          </a:prstGeom>
          <a:solidFill>
            <a:srgbClr val="3BB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269480" y="5760720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57347"/>
                </a:solidFill>
              </a:rPr>
              <a:t>Scales: 100× Auto Scaling  ·  1000× Multi-region + DAX  ·  AI → Lambda+SQS (1K parallel)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20040" y="635508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A938E"/>
                </a:solidFill>
              </a:rPr>
              <a:t>Speaker note: "Input→security→decision→LangGraph engine. Matches 9,534 products with 3 retrieval methods. DynamoDB auto-scales. CloudFront is already global. LLM caching cuts 99% of redundant model calls."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BB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38E"/>
                </a:solidFill>
              </a:rPr>
              <a:t>Slide 9  ·  Theme Alignment + Future Vision  ·  9:00 – 10:00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D3242"/>
                </a:solidFill>
              </a:rPr>
              <a:t>All 3 Amazon Now Areas.  One Engine to Rule Them All.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0040" y="749808"/>
            <a:ext cx="11548872" cy="0"/>
          </a:xfrm>
          <a:prstGeom prst="line">
            <a:avLst/>
          </a:prstGeom>
          <a:ln w="12700">
            <a:solidFill>
              <a:srgbClr val="E3E7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868680"/>
            <a:ext cx="3749039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868680"/>
            <a:ext cx="45720" cy="1783080"/>
          </a:xfrm>
          <a:prstGeom prst="rect">
            <a:avLst/>
          </a:prstGeom>
          <a:solidFill>
            <a:srgbClr val="3BB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" y="93268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D3242"/>
                </a:solidFill>
              </a:rPr>
              <a:t>🛍️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" y="1408176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BB77E"/>
                </a:solidFill>
              </a:rPr>
              <a:t>FRICTIONLESS SHOPPING 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" y="1682496"/>
            <a:ext cx="34747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5F6B66"/>
                </a:solidFill>
              </a:rPr>
              <a:t>OOS items swap automatically.
No dead ends. No variant chaos.
User never hits a wall.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9392" y="868680"/>
            <a:ext cx="3749039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79392" y="868680"/>
            <a:ext cx="45720" cy="17830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7407" y="93268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D3242"/>
                </a:solidFill>
              </a:rPr>
              <a:t>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7407" y="1408176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A623"/>
                </a:solidFill>
              </a:rPr>
              <a:t>SHOPPING BY INTENT 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7" y="1682496"/>
            <a:ext cx="34747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5F6B66"/>
                </a:solidFill>
              </a:rPr>
              <a:t>Photo→cart. YouTube link→cart.
Voice→cart. New users get
predictions from age+gender.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38744" y="868680"/>
            <a:ext cx="3749039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38744" y="868680"/>
            <a:ext cx="45720" cy="17830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93268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D3242"/>
                </a:solidFill>
              </a:rPr>
              <a:t>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1408176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D4ED8"/>
                </a:solidFill>
              </a:rPr>
              <a:t>PREDICTIVE &amp; CONFIDENT 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1682496"/>
            <a:ext cx="34747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5F6B66"/>
                </a:solidFill>
              </a:rPr>
              <a:t>Restock cart pre-built before
user asks. Every pick shows
confidence % + one-line reason.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761488"/>
            <a:ext cx="115214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2761488"/>
            <a:ext cx="45720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81635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D3242"/>
                </a:solidFill>
              </a:rPr>
              <a:t>Integration-Ready:  Alexa voice  ·  Amazon Photos  ·  Engine as API  ·  Plugs into existing Amazon ecosystem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246120"/>
            <a:ext cx="56692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3246120"/>
            <a:ext cx="45720" cy="2834640"/>
          </a:xfrm>
          <a:prstGeom prst="rect">
            <a:avLst/>
          </a:prstGeom>
          <a:solidFill>
            <a:srgbClr val="3BB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291840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A938E"/>
                </a:solidFill>
              </a:rPr>
              <a:t>EXPECTED IMPACT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" y="35661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D3242"/>
                </a:solidFill>
              </a:rPr>
              <a:t>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3584448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3242"/>
                </a:solidFill>
              </a:rPr>
              <a:t>26 hrs/user/year saved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3822191"/>
            <a:ext cx="4892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F6B66"/>
                </a:solidFill>
              </a:rPr>
              <a:t>10 min × 3/week. At 1M users = 26M hours returned annually.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" y="418795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D3242"/>
                </a:solidFill>
              </a:rPr>
              <a:t>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4206240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3242"/>
                </a:solidFill>
              </a:rPr>
              <a:t>70% → &lt;15% abandonment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4443984"/>
            <a:ext cx="4892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F6B66"/>
                </a:solidFill>
              </a:rPr>
              <a:t>Confident carts + pre-resolved OOS attack abandonment directly.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" y="48097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D3242"/>
                </a:solidFill>
              </a:rPr>
              <a:t>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4828031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3242"/>
                </a:solidFill>
              </a:rPr>
              <a:t>99% redundant LLM calls cut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5065776"/>
            <a:ext cx="4892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F6B66"/>
                </a:solidFill>
              </a:rPr>
              <a:t>Redis hash caching: 100 queries = 1 model call + 99 cache hits.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" y="543153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D3242"/>
                </a:solidFill>
              </a:rPr>
              <a:t>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5449823"/>
            <a:ext cx="4892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3242"/>
                </a:solidFill>
              </a:rPr>
              <a:t>+100M newly reachable users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5687568"/>
            <a:ext cx="4892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F6B66"/>
                </a:solidFill>
              </a:rPr>
              <a:t>Voice + photo-first unlocks users excluded by text-only interfaces.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72200" y="3246120"/>
            <a:ext cx="54406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72200" y="3246120"/>
            <a:ext cx="45720" cy="28346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3291840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A938E"/>
                </a:solidFill>
              </a:rPr>
              <a:t>EXPANSION ROADMAP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72200" y="3611880"/>
            <a:ext cx="73152" cy="658368"/>
          </a:xfrm>
          <a:prstGeom prst="rect">
            <a:avLst/>
          </a:prstGeom>
          <a:solidFill>
            <a:srgbClr val="3BB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27648" y="3630168"/>
            <a:ext cx="1417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BB77E"/>
                </a:solidFill>
              </a:rPr>
              <a:t>0–3 months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0" y="3630168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3242"/>
                </a:solidFill>
              </a:rPr>
              <a:t>Grocery · 1K users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0" y="386791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F6B66"/>
                </a:solidFill>
              </a:rPr>
              <a:t>3× faster cart · &lt;15% abandonment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72200" y="4343400"/>
            <a:ext cx="73152" cy="65836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27648" y="4361688"/>
            <a:ext cx="1417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A623"/>
                </a:solidFill>
              </a:rPr>
              <a:t>3–6 months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0" y="4361688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3242"/>
                </a:solidFill>
              </a:rPr>
              <a:t>Pharmacy OTC · Multi-lang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0" y="459943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F6B66"/>
                </a:solidFill>
              </a:rPr>
              <a:t>10K users · Hindi/Tamil/Bengali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72200" y="5074920"/>
            <a:ext cx="73152" cy="65836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27648" y="5093208"/>
            <a:ext cx="1417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D4ED8"/>
                </a:solidFill>
              </a:rPr>
              <a:t>6–12 months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72400" y="5093208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3242"/>
                </a:solidFill>
              </a:rPr>
              <a:t>B2B + White-label API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72400" y="533095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F6B66"/>
                </a:solidFill>
              </a:rPr>
              <a:t>20K+ users · licensing/cart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72200" y="5596128"/>
            <a:ext cx="54406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172200" y="5596128"/>
            <a:ext cx="45720" cy="40233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09360" y="5641848"/>
            <a:ext cx="5166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D3242"/>
                </a:solidFill>
              </a:rPr>
              <a:t>Grocery → Pharmacy → Creator → B2B → Events  |  Each step = catalog swap + prompt tweak. Zero rebuild.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0040" y="635508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A938E"/>
                </a:solidFill>
              </a:rPr>
              <a:t>Speaker note: "We hit all 3 Amazon Now areas. Engine is category-agnostic — pharmacy or creator commerce is a catalog update, not a rebuild. 1,000 grocery users in 3 months, white-label API by year-end."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BB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0" y="109728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157347"/>
                </a:solidFill>
              </a:rPr>
              <a:t>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80" y="109728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1D3242"/>
                </a:solidFill>
              </a:rPr>
              <a:t>Cart  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5F6B66"/>
                </a:solidFill>
              </a:rPr>
              <a:t>"Quick commerce solved delivery.  We solve the deciding."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0040" y="2907792"/>
            <a:ext cx="11548872" cy="0"/>
          </a:xfrm>
          <a:prstGeom prst="line">
            <a:avLst/>
          </a:prstGeom>
          <a:ln w="12700">
            <a:solidFill>
              <a:srgbClr val="E3E7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2286000" y="3035808"/>
            <a:ext cx="22860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77440" y="3090672"/>
            <a:ext cx="2103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157347"/>
                </a:solidFill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3730752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F6B66"/>
                </a:solidFill>
              </a:rPr>
              <a:t>Front Doors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3035808"/>
            <a:ext cx="22860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59" y="3090672"/>
            <a:ext cx="2103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5A623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59" y="3730752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F6B66"/>
                </a:solidFill>
              </a:rPr>
              <a:t>Reasoning Engine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3035808"/>
            <a:ext cx="22860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79" y="3090672"/>
            <a:ext cx="2103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E23D6D"/>
                </a:solidFill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3730752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F6B66"/>
                </a:solidFill>
              </a:rPr>
              <a:t>Dead Ends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11680" y="4407408"/>
            <a:ext cx="81381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011680" y="4407408"/>
            <a:ext cx="45720" cy="1051560"/>
          </a:xfrm>
          <a:prstGeom prst="rect">
            <a:avLst/>
          </a:prstGeom>
          <a:solidFill>
            <a:srgbClr val="3BB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94560" y="4462272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F6B66"/>
                </a:solidFill>
              </a:rPr>
              <a:t>Deployed on AWS  ·  Fully Functional Today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4736592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57347"/>
                </a:solidFill>
              </a:rPr>
              <a:t>🌐 Live App     🎥 Demo Video     💻 Source Code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5056632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38E"/>
                </a:solidFill>
              </a:rPr>
              <a:t>Sign in as  rahul@gmail.com  (any password)  for full pantry + prediction experience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650992"/>
            <a:ext cx="9418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8A938E"/>
                </a:solidFill>
              </a:rPr>
              <a:t>Tell us what to make.  We assemble what to buy.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